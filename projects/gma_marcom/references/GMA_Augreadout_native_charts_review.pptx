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38dbccd16d448e" /><Relationship Type="http://schemas.openxmlformats.org/officeDocument/2006/relationships/extended-properties" Target="/docProps/app.xml" Id="R430cd30d485149e8" /><Relationship Type="http://schemas.openxmlformats.org/officeDocument/2006/relationships/officeDocument" Target="/ppt/presentation.xml" Id="R68b981fd843740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c9f9e87cd748c8"/>
  </p:sldMasterIdLst>
  <p:notesMasterIdLst>
    <p:notesMasterId xmlns:r="http://schemas.openxmlformats.org/officeDocument/2006/relationships" r:id="R881616bf1f25479f"/>
  </p:notesMasterIdLst>
  <p:sldIdLst>
    <p:sldId xmlns:r="http://schemas.openxmlformats.org/officeDocument/2006/relationships" id="256" r:id="Re21a1174f2584a6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8f05f601cc4647" /><Relationship Type="http://schemas.openxmlformats.org/officeDocument/2006/relationships/slideMaster" Target="/ppt/slideMasters/slideMaster1.xml" Id="R45c9f9e87cd748c8" /><Relationship Type="http://schemas.openxmlformats.org/officeDocument/2006/relationships/notesMaster" Target="/ppt/notesMasters/notesMaster1.xml" Id="R881616bf1f25479f" /><Relationship Type="http://schemas.openxmlformats.org/officeDocument/2006/relationships/presProps" Target="/ppt/presProps.xml" Id="Rc0536313ecb34c63" /><Relationship Type="http://schemas.openxmlformats.org/officeDocument/2006/relationships/tableStyles" Target="/ppt/tableStyles.xml" Id="Re96fbdade6f74599" /><Relationship Type="http://schemas.openxmlformats.org/officeDocument/2006/relationships/slide" Target="/ppt/slides/slide1.xml" Id="Re21a1174f2584a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f88328504b45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b00e75c113428c" /><Relationship Type="http://schemas.openxmlformats.org/officeDocument/2006/relationships/notesMaster" Target="/ppt/notesMasters/notesMaster1.xml" Id="Rc85a72984b934c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cbe68101fb448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209823b58d419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13ebcf04b0401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6b1f3ece244dd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25bf877daa412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23ddce34344e0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c1f146305d484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aae5ddb53446e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8a160cbc384f3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4b7aefbac244a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a9333a0ca143a5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291CBA2-5081-587F-4581-F212CDCE5FC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D16EF25-092D-980A-4BB6-8DAB46B6D69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7AF26DB-5C29-7A4E-D8D3-5021E23D8F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C81715C-54A3-0E45-A354-94ACCAE18277}" type="datetimeFigureOut">
              <a:t>9/3/26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F392CA1-5C80-4EF4-F877-5B125DFB9B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6A7C65E-E4AF-E108-17D8-28F03BC86A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06481E5-7399-7141-BDBF-BA9ADD3FBEE0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9C5EF6F-38C3-72C6-F154-86223F7F39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491AF6D-2CAE-F1B8-0249-22E37403E00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BF9589-37D1-A251-AAE5-2EFC38EBD6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C81715C-54A3-0E45-A354-94ACCAE18277}" type="datetimeFigureOut">
              <a:t>9/3/26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C189544-FF2F-5D56-5EBD-6548518CC8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C786A4-2BF6-F4EF-F4AF-344A17B730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06481E5-7399-7141-BDBF-BA9ADD3FBEE0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18782BA-9C0F-C20C-3B6C-27FBD69084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21257B4-42B1-C84D-105F-17E51A1AF2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7253A7B-602F-5469-682D-6BD725379B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C81715C-54A3-0E45-A354-94ACCAE18277}" type="datetimeFigureOut">
              <a:t>9/3/26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F7EFB74-2DC3-A1EA-618A-A5AAD2A307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B27A538-2417-47E7-3E58-F8EAFCABF6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06481E5-7399-7141-BDBF-BA9ADD3FBEE0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042DEAC-3FA1-A51D-FF82-12971DAE6C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E279B8A-529E-45C1-1859-1459C174C77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F34A516-3ABF-F929-3821-50A9ADD2DFD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A995244-24B9-F97F-E275-295BA23F876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C81715C-54A3-0E45-A354-94ACCAE18277}" type="datetimeFigureOut">
              <a:t>9/3/26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32F6D12-E7B6-89C3-7084-EBDD0E63934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AF31633-2DB6-9B13-BDAD-7EB34CCA16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06481E5-7399-7141-BDBF-BA9ADD3FBEE0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F8A6688-CC36-F453-447A-0772145010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EA1975F-BB73-3C30-2449-19B4A5C5B5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85A9FFC-B665-1952-99A2-4927864C36A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D891B64-3D31-0CEF-DEB4-D8A4ED2AA67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5FDAC9F-AD91-6EA6-EB00-53D952CDB98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463FB1B-5F27-3384-5E91-55ABD29414F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C81715C-54A3-0E45-A354-94ACCAE18277}" type="datetimeFigureOut">
              <a:t>9/3/26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6BE84C4-418D-FCC3-34C9-B2AE88A02A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C4570AE-79FF-96E7-901E-8373EEAC11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06481E5-7399-7141-BDBF-BA9ADD3FBEE0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EA2B42A-F847-B8EE-58A9-E8F82A4037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3B8C282A-D0F7-662F-5D7D-53108DFF77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C81715C-54A3-0E45-A354-94ACCAE18277}" type="datetimeFigureOut">
              <a:t>9/3/26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E85C82FA-3270-38FB-E73C-4AC2B91363F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C196B4D-5403-2C0A-D6D5-2AE514426C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06481E5-7399-7141-BDBF-BA9ADD3FBEE0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A7F7BC51-43DE-BE81-445B-848AA2A770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C81715C-54A3-0E45-A354-94ACCAE18277}" type="datetimeFigureOut">
              <a:t>9/3/26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E9204E0B-4453-B996-F57E-69A8C2C540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C8F6FE4-C6BC-9D1A-7216-AE2E068997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06481E5-7399-7141-BDBF-BA9ADD3FBEE0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DCD6FA7-81CB-1C14-22A0-50D6A7B04F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94EDF69-F642-36AF-DE67-14143BBBCA0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EB0459F-019F-FEB5-3ACD-1338169DBE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7B02E6B-851F-BF85-DA86-BE2913E95F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C81715C-54A3-0E45-A354-94ACCAE18277}" type="datetimeFigureOut">
              <a:t>9/3/26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7DE8ED0-E27A-42C6-3D68-761BD40D798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7F9E4BF-D118-A40E-95DD-8C3D72F8A4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06481E5-7399-7141-BDBF-BA9ADD3FBEE0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0ABBA3-BC26-EC64-0E36-F772639B9C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18289221-D555-FB2A-2B34-9BF41B888A6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B5F925F-0E1D-A020-0A10-E45BB0D26F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1BD7F29-4C28-3733-4211-B54D1463B2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C81715C-54A3-0E45-A354-94ACCAE18277}" type="datetimeFigureOut">
              <a:t>9/3/26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65F16FF-D0E2-3C71-E794-6B2165380B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15EAD15-41C2-E88A-DBA6-101B3FFB2E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06481E5-7399-7141-BDBF-BA9ADD3FBEE0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1945713-5FB2-D673-8EB6-E10762F44A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401ECD7-B9E4-8D67-15A8-3C40CCDBFE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FC480D8-49F0-A7E3-D74F-BCE7787D89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C81715C-54A3-0E45-A354-94ACCAE18277}" type="datetimeFigureOut">
              <a:t>9/3/26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8ED3432-3CCA-BC54-CAAF-18B0FE4805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7EC7D8E-4802-F673-F2DE-D7FC57C092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06481E5-7399-7141-BDBF-BA9ADD3FBEE0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3EA45D0C-26EA-A448-7C76-C73F9B56C3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C0555D5-C8BC-B8BB-D0E8-7366F2F433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767816B-71A1-4035-4B2F-CCD2E4736B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C81715C-54A3-0E45-A354-94ACCAE18277}" type="datetimeFigureOut">
              <a:t>9/3/26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8967A5D-DC8D-1204-44BA-7F274E6E10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4CB431D-8052-15C7-A3A6-A57B4D36F6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06481E5-7399-7141-BDBF-BA9ADD3FBEE0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69dc4b1d954d52" /><Relationship Type="http://schemas.openxmlformats.org/officeDocument/2006/relationships/slideLayout" Target="/ppt/slideLayouts/slideLayout1.xml" Id="Raa389f825ab24a8e" /><Relationship Type="http://schemas.openxmlformats.org/officeDocument/2006/relationships/slideLayout" Target="/ppt/slideLayouts/slideLayout2.xml" Id="R5273d1d26baf4003" /><Relationship Type="http://schemas.openxmlformats.org/officeDocument/2006/relationships/slideLayout" Target="/ppt/slideLayouts/slideLayout3.xml" Id="R2e61561f93a04c9d" /><Relationship Type="http://schemas.openxmlformats.org/officeDocument/2006/relationships/slideLayout" Target="/ppt/slideLayouts/slideLayout4.xml" Id="R14fdfad0f1d94911" /><Relationship Type="http://schemas.openxmlformats.org/officeDocument/2006/relationships/slideLayout" Target="/ppt/slideLayouts/slideLayout5.xml" Id="Rd219414c3b5c4037" /><Relationship Type="http://schemas.openxmlformats.org/officeDocument/2006/relationships/slideLayout" Target="/ppt/slideLayouts/slideLayout6.xml" Id="Re8234506f68646a4" /><Relationship Type="http://schemas.openxmlformats.org/officeDocument/2006/relationships/slideLayout" Target="/ppt/slideLayouts/slideLayout7.xml" Id="R225dc31b206c4ccf" /><Relationship Type="http://schemas.openxmlformats.org/officeDocument/2006/relationships/slideLayout" Target="/ppt/slideLayouts/slideLayout8.xml" Id="Rca003ff5fe004665" /><Relationship Type="http://schemas.openxmlformats.org/officeDocument/2006/relationships/slideLayout" Target="/ppt/slideLayouts/slideLayout9.xml" Id="R2c6d2df6306240ce" /><Relationship Type="http://schemas.openxmlformats.org/officeDocument/2006/relationships/slideLayout" Target="/ppt/slideLayouts/slideLayout10.xml" Id="R41055d2c0313469b" /><Relationship Type="http://schemas.openxmlformats.org/officeDocument/2006/relationships/slideLayout" Target="/ppt/slideLayouts/slideLayout11.xml" Id="R2dcf61b118794f3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DE4F9498-FC7E-40F5-E4B0-591982D37A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A59B17A-7814-0CDA-DFE3-E7252BF904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7F893AB-2D35-4508-2812-E6AACF7D4D8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9C81715C-54A3-0E45-A354-94ACCAE18277}" type="datetimeFigureOut">
              <a:t>9/3/26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4D4BF1F-8517-D2BF-6B91-768530D5942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442217E-53A2-55B1-A6A7-BA032558BA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606481E5-7399-7141-BDBF-BA9ADD3FBEE0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389f825ab24a8e"/>
    <p:sldLayoutId xmlns:r="http://schemas.openxmlformats.org/officeDocument/2006/relationships" id="2147483650" r:id="R5273d1d26baf4003"/>
    <p:sldLayoutId xmlns:r="http://schemas.openxmlformats.org/officeDocument/2006/relationships" id="2147483651" r:id="R2e61561f93a04c9d"/>
    <p:sldLayoutId xmlns:r="http://schemas.openxmlformats.org/officeDocument/2006/relationships" id="2147483652" r:id="R14fdfad0f1d94911"/>
    <p:sldLayoutId xmlns:r="http://schemas.openxmlformats.org/officeDocument/2006/relationships" id="2147483653" r:id="Rd219414c3b5c4037"/>
    <p:sldLayoutId xmlns:r="http://schemas.openxmlformats.org/officeDocument/2006/relationships" id="2147483654" r:id="Re8234506f68646a4"/>
    <p:sldLayoutId xmlns:r="http://schemas.openxmlformats.org/officeDocument/2006/relationships" id="2147483655" r:id="R225dc31b206c4ccf"/>
    <p:sldLayoutId xmlns:r="http://schemas.openxmlformats.org/officeDocument/2006/relationships" id="2147483656" r:id="Rca003ff5fe004665"/>
    <p:sldLayoutId xmlns:r="http://schemas.openxmlformats.org/officeDocument/2006/relationships" id="2147483657" r:id="R2c6d2df6306240ce"/>
    <p:sldLayoutId xmlns:r="http://schemas.openxmlformats.org/officeDocument/2006/relationships" id="2147483658" r:id="R41055d2c0313469b"/>
    <p:sldLayoutId xmlns:r="http://schemas.openxmlformats.org/officeDocument/2006/relationships" id="2147483659" r:id="R2dcf61b118794f31"/>
  </p:sldLayoutIdLst>
  <p:txStyles>
    <p:titleStyle>
      <a:lvl1pPr xmlns:a="http://schemas.openxmlformats.org/drawingml/2006/main"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c0fbcc962a495e" /><Relationship Type="http://schemas.openxmlformats.org/officeDocument/2006/relationships/chart" Target="/ppt/slides/charts/chart1.xml" Id="Rfbc89e09cbdd4c28" /><Relationship Type="http://schemas.openxmlformats.org/officeDocument/2006/relationships/chart" Target="/ppt/slides/charts/chart2.xml" Id="Raf90ede5868a423e" /><Relationship Type="http://schemas.openxmlformats.org/officeDocument/2006/relationships/notesSlide" Target="/ppt/notesSlides/notesSlide1.xml" Id="R3c0d4d5cfbd74c7c" /></Relationships>
</file>

<file path=ppt/slides/charts/chart1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2023</c:v>
          </c:tx>
          <c:spPr>
            <a:solidFill xmlns:a="http://schemas.openxmlformats.org/drawingml/2006/main">
              <a:srgbClr val="A653D7"/>
            </a:solidFill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6"/>
          </c:marker>
          <c:dLbls/>
          <c:xVal>
            <c:numLit>
              <c:formatCode>General</c:formatCode>
              <c:ptCount val="12"/>
              <c:pt idx="0">
                <c:v>1787166</c:v>
              </c:pt>
              <c:pt idx="1">
                <c:v>2143822.6</c:v>
              </c:pt>
              <c:pt idx="2">
                <c:v>2108426.26</c:v>
              </c:pt>
              <c:pt idx="3">
                <c:v>2415626.626</c:v>
              </c:pt>
              <c:pt idx="4">
                <c:v>2329758.6626</c:v>
              </c:pt>
              <c:pt idx="5">
                <c:v>2237439.86626</c:v>
              </c:pt>
              <c:pt idx="6">
                <c:v>2779017.986626</c:v>
              </c:pt>
              <c:pt idx="7">
                <c:v>2741175.7986626</c:v>
              </c:pt>
              <c:pt idx="8">
                <c:v>2511674.57986626</c:v>
              </c:pt>
              <c:pt idx="9">
                <c:v>3007082.457986626</c:v>
              </c:pt>
              <c:pt idx="10">
                <c:v>2402165.245798663</c:v>
              </c:pt>
              <c:pt idx="11">
                <c:v>3246277.5245798663</c:v>
              </c:pt>
            </c:numLit>
          </c:xVal>
          <c:yVal>
            <c:numLit>
              <c:formatCode>#,##0</c:formatCode>
              <c:ptCount val="12"/>
              <c:pt idx="0">
                <c:v>3905</c:v>
              </c:pt>
              <c:pt idx="1">
                <c:v>4208</c:v>
              </c:pt>
              <c:pt idx="2">
                <c:v>5191</c:v>
              </c:pt>
              <c:pt idx="3">
                <c:v>5557</c:v>
              </c:pt>
              <c:pt idx="4">
                <c:v>5102</c:v>
              </c:pt>
              <c:pt idx="5">
                <c:v>4929</c:v>
              </c:pt>
              <c:pt idx="6">
                <c:v>5530</c:v>
              </c:pt>
              <c:pt idx="7">
                <c:v>5746</c:v>
              </c:pt>
              <c:pt idx="8">
                <c:v>5413</c:v>
              </c:pt>
              <c:pt idx="9">
                <c:v>4902</c:v>
              </c:pt>
              <c:pt idx="10">
                <c:v>5434</c:v>
              </c:pt>
              <c:pt idx="11">
                <c:v>6636</c:v>
              </c:pt>
            </c:numLit>
          </c:yVal>
        </c:ser>
        <c:ser>
          <c:idx val="1"/>
          <c:order val="1"/>
          <c:tx>
            <c:v>2024</c:v>
          </c:tx>
          <c:spPr>
            <a:solidFill xmlns:a="http://schemas.openxmlformats.org/drawingml/2006/main">
              <a:srgbClr val="D44883"/>
            </a:solidFill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6"/>
          </c:marker>
          <c:dLbls/>
          <c:xVal>
            <c:numLit>
              <c:formatCode>General</c:formatCode>
              <c:ptCount val="12"/>
              <c:pt idx="0">
                <c:v>3512867.7524579866</c:v>
              </c:pt>
              <c:pt idx="1">
                <c:v>5184753.775245799</c:v>
              </c:pt>
              <c:pt idx="2">
                <c:v>3910365.37752458</c:v>
              </c:pt>
              <c:pt idx="3">
                <c:v>3917193.537752458</c:v>
              </c:pt>
              <c:pt idx="4">
                <c:v>3351324.353775246</c:v>
              </c:pt>
              <c:pt idx="5">
                <c:v>3759919.4353775247</c:v>
              </c:pt>
              <c:pt idx="6">
                <c:v>3931925.9435377526</c:v>
              </c:pt>
              <c:pt idx="7">
                <c:v>3951611.5943537755</c:v>
              </c:pt>
              <c:pt idx="8">
                <c:v>3618342.1594353775</c:v>
              </c:pt>
              <c:pt idx="9">
                <c:v>3716351.2159435377</c:v>
              </c:pt>
              <c:pt idx="10">
                <c:v>3298830.1215943536</c:v>
              </c:pt>
              <c:pt idx="11">
                <c:v>3427350.0121594355</c:v>
              </c:pt>
            </c:numLit>
          </c:xVal>
          <c:yVal>
            <c:numLit>
              <c:formatCode>#,##0</c:formatCode>
              <c:ptCount val="12"/>
              <c:pt idx="0">
                <c:v>4269</c:v>
              </c:pt>
              <c:pt idx="1">
                <c:v>4463</c:v>
              </c:pt>
              <c:pt idx="2">
                <c:v>5156</c:v>
              </c:pt>
              <c:pt idx="3">
                <c:v>4626</c:v>
              </c:pt>
              <c:pt idx="4">
                <c:v>5476</c:v>
              </c:pt>
              <c:pt idx="5">
                <c:v>5529</c:v>
              </c:pt>
              <c:pt idx="6">
                <c:v>6120</c:v>
              </c:pt>
              <c:pt idx="7">
                <c:v>6712</c:v>
              </c:pt>
              <c:pt idx="8">
                <c:v>5218</c:v>
              </c:pt>
              <c:pt idx="9">
                <c:v>5940</c:v>
              </c:pt>
              <c:pt idx="10">
                <c:v>6534</c:v>
              </c:pt>
              <c:pt idx="11">
                <c:v>7358</c:v>
              </c:pt>
            </c:numLit>
          </c:yVal>
        </c:ser>
        <c:ser>
          <c:idx val="2"/>
          <c:order val="2"/>
          <c:tx>
            <c:v>2025</c:v>
          </c:tx>
          <c:spPr>
            <a:solidFill xmlns:a="http://schemas.openxmlformats.org/drawingml/2006/main">
              <a:srgbClr val="168F88"/>
            </a:solidFill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6"/>
          </c:marker>
          <c:dLbls/>
          <c:xVal>
            <c:numLit>
              <c:formatCode>General</c:formatCode>
              <c:ptCount val="12"/>
              <c:pt idx="0">
                <c:v>2565271.0012159436</c:v>
              </c:pt>
              <c:pt idx="1">
                <c:v>2409285.1001215945</c:v>
              </c:pt>
              <c:pt idx="2">
                <c:v>3014021.5100121596</c:v>
              </c:pt>
              <c:pt idx="3">
                <c:v>3267914.151001216</c:v>
              </c:pt>
              <c:pt idx="4">
                <c:v>3804555.415100122</c:v>
              </c:pt>
              <c:pt idx="5">
                <c:v>3489227.541510012</c:v>
              </c:pt>
              <c:pt idx="6">
                <c:v>4088152.754151001</c:v>
              </c:pt>
              <c:pt idx="7">
                <c:v>4213671.2754151</c:v>
              </c:pt>
              <c:pt idx="8">
                <c:v>3004143.12754151</c:v>
              </c:pt>
              <c:pt idx="9">
                <c:v>3538451.312754151</c:v>
              </c:pt>
              <c:pt idx="10">
                <c:v>3636418.131275415</c:v>
              </c:pt>
              <c:pt idx="11">
                <c:v>3533603.8131275414</c:v>
              </c:pt>
            </c:numLit>
          </c:xVal>
          <c:yVal>
            <c:numLit>
              <c:formatCode>#,##0</c:formatCode>
              <c:ptCount val="12"/>
              <c:pt idx="0">
                <c:v>4547</c:v>
              </c:pt>
              <c:pt idx="1">
                <c:v>5096</c:v>
              </c:pt>
              <c:pt idx="2">
                <c:v>6840</c:v>
              </c:pt>
              <c:pt idx="3">
                <c:v>5736</c:v>
              </c:pt>
              <c:pt idx="4">
                <c:v>6323</c:v>
              </c:pt>
              <c:pt idx="5">
                <c:v>5823</c:v>
              </c:pt>
              <c:pt idx="6">
                <c:v>6100</c:v>
              </c:pt>
              <c:pt idx="7">
                <c:v>7345</c:v>
              </c:pt>
              <c:pt idx="8">
                <c:v>5891</c:v>
              </c:pt>
              <c:pt idx="9">
                <c:v>5751</c:v>
              </c:pt>
              <c:pt idx="10">
                <c:v>6732</c:v>
              </c:pt>
              <c:pt idx="11">
                <c:v>7903</c:v>
              </c:pt>
            </c:numLit>
          </c:yVal>
        </c:ser>
        <c:ser>
          <c:idx val="3"/>
          <c:order val="3"/>
          <c:tx>
            <c:v>2026</c:v>
          </c:tx>
          <c:spPr>
            <a:solidFill xmlns:a="http://schemas.openxmlformats.org/drawingml/2006/main">
              <a:srgbClr val="1677D2"/>
            </a:solidFill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6"/>
          </c:marker>
          <c:dLbls/>
          <c:xVal>
            <c:numLit>
              <c:formatCode>General</c:formatCode>
              <c:ptCount val="7"/>
              <c:pt idx="0">
                <c:v>2878488.381312754</c:v>
              </c:pt>
              <c:pt idx="1">
                <c:v>2801297.8381312755</c:v>
              </c:pt>
              <c:pt idx="2">
                <c:v>3156587.7838131273</c:v>
              </c:pt>
              <c:pt idx="3">
                <c:v>3706162.7783813127</c:v>
              </c:pt>
              <c:pt idx="4">
                <c:v>3236921.2778381314</c:v>
              </c:pt>
              <c:pt idx="5">
                <c:v>3018492.127783813</c:v>
              </c:pt>
              <c:pt idx="6">
                <c:v>3276899.212778381</c:v>
              </c:pt>
            </c:numLit>
          </c:xVal>
          <c:yVal>
            <c:numLit>
              <c:formatCode>#,##0</c:formatCode>
              <c:ptCount val="7"/>
              <c:pt idx="0">
                <c:v>5050</c:v>
              </c:pt>
              <c:pt idx="1">
                <c:v>5228</c:v>
              </c:pt>
              <c:pt idx="2">
                <c:v>6866</c:v>
              </c:pt>
              <c:pt idx="3">
                <c:v>5473</c:v>
              </c:pt>
              <c:pt idx="4">
                <c:v>6622</c:v>
              </c:pt>
              <c:pt idx="5">
                <c:v>6601</c:v>
              </c:pt>
              <c:pt idx="6">
                <c:v>5908</c:v>
              </c:pt>
            </c:numLit>
          </c:yVal>
        </c:ser>
        <c:ser>
          <c:idx val="4"/>
          <c:order val="4"/>
          <c:tx>
            <c:v>Regression</c:v>
          </c:tx>
          <c:spPr>
            <a:ln xmlns:a="http://schemas.openxmlformats.org/drawingml/2006/main" w="19050">
              <a:solidFill>
                <a:srgbClr val="E17B2D"/>
              </a:solidFill>
              <a:prstDash val="dash"/>
            </a:ln>
          </c:spPr>
          <c:marker>
            <c:symbol val="none"/>
          </c:marker>
          <c:dLbls/>
          <c:xVal>
            <c:numLit>
              <c:formatCode>General</c:formatCode>
              <c:ptCount val="2"/>
              <c:pt idx="0">
                <c:v>1787166</c:v>
              </c:pt>
              <c:pt idx="1">
                <c:v>5184753.775245799</c:v>
              </c:pt>
            </c:numLit>
          </c:xVal>
          <c:yVal>
            <c:numLit>
              <c:formatCode>#,##0</c:formatCode>
              <c:ptCount val="2"/>
              <c:pt idx="0">
                <c:v>5083.622780670386</c:v>
              </c:pt>
              <c:pt idx="1">
                <c:v>6596.204416685787</c:v>
              </c:pt>
            </c:numLit>
          </c:yVal>
        </c:ser>
        <c:dLbls/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RDR sales</a:t>
                </a:r>
              </a:p>
            </c:rich>
          </c:tx>
          <c:overlay val="0"/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AEB8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44054"/>
                </a:solidFill>
              </a:defRPr>
            </a:pPr>
          </a:p>
        </c:txPr>
        <c:crossAx val="48650112"/>
        <c:crosses val="autoZero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Adjusted T1 visits</a:t>
                </a:r>
              </a:p>
            </c:rich>
          </c:tx>
          <c:overlay val="0"/>
        </c:title>
        <c:numFmt formatCode="0.0,,&quot;M&quot;"/>
        <c:majorTickMark val="none"/>
        <c:minorTickMark val="none"/>
        <c:spPr>
          <a:ln xmlns:a="http://schemas.openxmlformats.org/drawingml/2006/main" w="9525">
            <a:solidFill>
              <a:srgbClr val="AEB8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44054"/>
                </a:solidFill>
              </a:defRPr>
            </a:pPr>
          </a:p>
        </c:txPr>
        <c:crossAx val="48672768"/>
        <c:crosses val="autoZero"/>
      </c:valAx>
      <c:spPr>
        <a:noFill xmlns:a="http://schemas.openxmlformats.org/drawingml/2006/main"/>
        <a:ln xmlns:a="http://schemas.openxmlformats.org/drawingml/2006/main" w="9525">
          <a:solidFill>
            <a:srgbClr val="C9D1DA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52606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RDR sales</c:v>
          </c:tx>
          <c:spPr>
            <a:ln xmlns:a="http://schemas.openxmlformats.org/drawingml/2006/main" w="23813">
              <a:solidFill>
                <a:srgbClr val="1677D2"/>
              </a:solidFill>
              <a:prstDash val="dash"/>
            </a:ln>
          </c:spPr>
          <c:marker>
            <c:symbol val="none"/>
          </c:marker>
          <c:dLbls/>
          <c:cat>
            <c:strLit>
              <c:ptCount val="43"/>
              <c:pt idx="0">
                <c:v>01/23</c:v>
              </c:pt>
              <c:pt idx="1">
                <c:v>02/23</c:v>
              </c:pt>
              <c:pt idx="2">
                <c:v>03/23</c:v>
              </c:pt>
              <c:pt idx="3">
                <c:v>04/23</c:v>
              </c:pt>
              <c:pt idx="4">
                <c:v>05/23</c:v>
              </c:pt>
              <c:pt idx="5">
                <c:v>06/23</c:v>
              </c:pt>
              <c:pt idx="6">
                <c:v>07/23</c:v>
              </c:pt>
              <c:pt idx="7">
                <c:v>08/23</c:v>
              </c:pt>
              <c:pt idx="8">
                <c:v>09/23</c:v>
              </c:pt>
              <c:pt idx="9">
                <c:v>10/23</c:v>
              </c:pt>
              <c:pt idx="10">
                <c:v>11/23</c:v>
              </c:pt>
              <c:pt idx="11">
                <c:v>12/23</c:v>
              </c:pt>
              <c:pt idx="12">
                <c:v>01/24</c:v>
              </c:pt>
              <c:pt idx="13">
                <c:v>02/24</c:v>
              </c:pt>
              <c:pt idx="14">
                <c:v>03/24</c:v>
              </c:pt>
              <c:pt idx="15">
                <c:v>04/24</c:v>
              </c:pt>
              <c:pt idx="16">
                <c:v>05/24</c:v>
              </c:pt>
              <c:pt idx="17">
                <c:v>06/24</c:v>
              </c:pt>
              <c:pt idx="18">
                <c:v>07/24</c:v>
              </c:pt>
              <c:pt idx="19">
                <c:v>08/24</c:v>
              </c:pt>
              <c:pt idx="20">
                <c:v>09/24</c:v>
              </c:pt>
              <c:pt idx="21">
                <c:v>10/24</c:v>
              </c:pt>
              <c:pt idx="22">
                <c:v>11/24</c:v>
              </c:pt>
              <c:pt idx="23">
                <c:v>12/24</c:v>
              </c:pt>
              <c:pt idx="24">
                <c:v>01/25</c:v>
              </c:pt>
              <c:pt idx="25">
                <c:v>02/25</c:v>
              </c:pt>
              <c:pt idx="26">
                <c:v>03/25</c:v>
              </c:pt>
              <c:pt idx="27">
                <c:v>04/25</c:v>
              </c:pt>
              <c:pt idx="28">
                <c:v>05/25</c:v>
              </c:pt>
              <c:pt idx="29">
                <c:v>06/25</c:v>
              </c:pt>
              <c:pt idx="30">
                <c:v>07/25</c:v>
              </c:pt>
              <c:pt idx="31">
                <c:v>08/25</c:v>
              </c:pt>
              <c:pt idx="32">
                <c:v>09/25</c:v>
              </c:pt>
              <c:pt idx="33">
                <c:v>10/25</c:v>
              </c:pt>
              <c:pt idx="34">
                <c:v>11/25</c:v>
              </c:pt>
              <c:pt idx="35">
                <c:v>12/25</c:v>
              </c:pt>
              <c:pt idx="36">
                <c:v>01/26</c:v>
              </c:pt>
              <c:pt idx="37">
                <c:v>02/26</c:v>
              </c:pt>
              <c:pt idx="38">
                <c:v>03/26</c:v>
              </c:pt>
              <c:pt idx="39">
                <c:v>04/26</c:v>
              </c:pt>
              <c:pt idx="40">
                <c:v>05/26</c:v>
              </c:pt>
              <c:pt idx="41">
                <c:v>06/26</c:v>
              </c:pt>
              <c:pt idx="42">
                <c:v>07/26</c:v>
              </c:pt>
            </c:strLit>
          </c:cat>
          <c:val>
            <c:numLit>
              <c:formatCode>#,##0</c:formatCode>
              <c:ptCount val="43"/>
              <c:pt idx="0">
                <c:v>3905</c:v>
              </c:pt>
              <c:pt idx="1">
                <c:v>4208</c:v>
              </c:pt>
              <c:pt idx="2">
                <c:v>5191</c:v>
              </c:pt>
              <c:pt idx="3">
                <c:v>5557</c:v>
              </c:pt>
              <c:pt idx="4">
                <c:v>5102</c:v>
              </c:pt>
              <c:pt idx="5">
                <c:v>4929</c:v>
              </c:pt>
              <c:pt idx="6">
                <c:v>5530</c:v>
              </c:pt>
              <c:pt idx="7">
                <c:v>5746</c:v>
              </c:pt>
              <c:pt idx="8">
                <c:v>5413</c:v>
              </c:pt>
              <c:pt idx="9">
                <c:v>4902</c:v>
              </c:pt>
              <c:pt idx="10">
                <c:v>5434</c:v>
              </c:pt>
              <c:pt idx="11">
                <c:v>6636</c:v>
              </c:pt>
              <c:pt idx="12">
                <c:v>4269</c:v>
              </c:pt>
              <c:pt idx="13">
                <c:v>4463</c:v>
              </c:pt>
              <c:pt idx="14">
                <c:v>5156</c:v>
              </c:pt>
              <c:pt idx="15">
                <c:v>4626</c:v>
              </c:pt>
              <c:pt idx="16">
                <c:v>5476</c:v>
              </c:pt>
              <c:pt idx="17">
                <c:v>5529</c:v>
              </c:pt>
              <c:pt idx="18">
                <c:v>6120</c:v>
              </c:pt>
              <c:pt idx="19">
                <c:v>6712</c:v>
              </c:pt>
              <c:pt idx="20">
                <c:v>5218</c:v>
              </c:pt>
              <c:pt idx="21">
                <c:v>5940</c:v>
              </c:pt>
              <c:pt idx="22">
                <c:v>6534</c:v>
              </c:pt>
              <c:pt idx="23">
                <c:v>7358</c:v>
              </c:pt>
              <c:pt idx="24">
                <c:v>4547</c:v>
              </c:pt>
              <c:pt idx="25">
                <c:v>5096</c:v>
              </c:pt>
              <c:pt idx="26">
                <c:v>6840</c:v>
              </c:pt>
              <c:pt idx="27">
                <c:v>5736</c:v>
              </c:pt>
              <c:pt idx="28">
                <c:v>6323</c:v>
              </c:pt>
              <c:pt idx="29">
                <c:v>5823</c:v>
              </c:pt>
              <c:pt idx="30">
                <c:v>6100</c:v>
              </c:pt>
              <c:pt idx="31">
                <c:v>7345</c:v>
              </c:pt>
              <c:pt idx="32">
                <c:v>5891</c:v>
              </c:pt>
              <c:pt idx="33">
                <c:v>5751</c:v>
              </c:pt>
              <c:pt idx="34">
                <c:v>6732</c:v>
              </c:pt>
              <c:pt idx="35">
                <c:v>7903</c:v>
              </c:pt>
              <c:pt idx="36">
                <c:v>5050</c:v>
              </c:pt>
              <c:pt idx="37">
                <c:v>5228</c:v>
              </c:pt>
              <c:pt idx="38">
                <c:v>6866</c:v>
              </c:pt>
              <c:pt idx="39">
                <c:v>5473</c:v>
              </c:pt>
              <c:pt idx="40">
                <c:v>6622</c:v>
              </c:pt>
              <c:pt idx="41">
                <c:v>6601</c:v>
              </c:pt>
              <c:pt idx="42">
                <c:v>5908</c:v>
              </c:pt>
            </c:numLit>
          </c:val>
          <c:smooth val="0"/>
        </c:ser>
        <c:ser>
          <c:idx val="1"/>
          <c:order val="1"/>
          <c:tx>
            <c:v>T1 visits</c:v>
          </c:tx>
          <c:spPr>
            <a:ln xmlns:a="http://schemas.openxmlformats.org/drawingml/2006/main" w="23813">
              <a:solidFill>
                <a:srgbClr val="2A9D5B"/>
              </a:solidFill>
              <a:prstDash val="solid"/>
            </a:ln>
          </c:spPr>
          <c:marker>
            <c:symbol val="none"/>
          </c:marker>
          <c:dLbls/>
          <c:cat>
            <c:strLit>
              <c:ptCount val="43"/>
              <c:pt idx="0">
                <c:v>01/23</c:v>
              </c:pt>
              <c:pt idx="1">
                <c:v>02/23</c:v>
              </c:pt>
              <c:pt idx="2">
                <c:v>03/23</c:v>
              </c:pt>
              <c:pt idx="3">
                <c:v>04/23</c:v>
              </c:pt>
              <c:pt idx="4">
                <c:v>05/23</c:v>
              </c:pt>
              <c:pt idx="5">
                <c:v>06/23</c:v>
              </c:pt>
              <c:pt idx="6">
                <c:v>07/23</c:v>
              </c:pt>
              <c:pt idx="7">
                <c:v>08/23</c:v>
              </c:pt>
              <c:pt idx="8">
                <c:v>09/23</c:v>
              </c:pt>
              <c:pt idx="9">
                <c:v>10/23</c:v>
              </c:pt>
              <c:pt idx="10">
                <c:v>11/23</c:v>
              </c:pt>
              <c:pt idx="11">
                <c:v>12/23</c:v>
              </c:pt>
              <c:pt idx="12">
                <c:v>01/24</c:v>
              </c:pt>
              <c:pt idx="13">
                <c:v>02/24</c:v>
              </c:pt>
              <c:pt idx="14">
                <c:v>03/24</c:v>
              </c:pt>
              <c:pt idx="15">
                <c:v>04/24</c:v>
              </c:pt>
              <c:pt idx="16">
                <c:v>05/24</c:v>
              </c:pt>
              <c:pt idx="17">
                <c:v>06/24</c:v>
              </c:pt>
              <c:pt idx="18">
                <c:v>07/24</c:v>
              </c:pt>
              <c:pt idx="19">
                <c:v>08/24</c:v>
              </c:pt>
              <c:pt idx="20">
                <c:v>09/24</c:v>
              </c:pt>
              <c:pt idx="21">
                <c:v>10/24</c:v>
              </c:pt>
              <c:pt idx="22">
                <c:v>11/24</c:v>
              </c:pt>
              <c:pt idx="23">
                <c:v>12/24</c:v>
              </c:pt>
              <c:pt idx="24">
                <c:v>01/25</c:v>
              </c:pt>
              <c:pt idx="25">
                <c:v>02/25</c:v>
              </c:pt>
              <c:pt idx="26">
                <c:v>03/25</c:v>
              </c:pt>
              <c:pt idx="27">
                <c:v>04/25</c:v>
              </c:pt>
              <c:pt idx="28">
                <c:v>05/25</c:v>
              </c:pt>
              <c:pt idx="29">
                <c:v>06/25</c:v>
              </c:pt>
              <c:pt idx="30">
                <c:v>07/25</c:v>
              </c:pt>
              <c:pt idx="31">
                <c:v>08/25</c:v>
              </c:pt>
              <c:pt idx="32">
                <c:v>09/25</c:v>
              </c:pt>
              <c:pt idx="33">
                <c:v>10/25</c:v>
              </c:pt>
              <c:pt idx="34">
                <c:v>11/25</c:v>
              </c:pt>
              <c:pt idx="35">
                <c:v>12/25</c:v>
              </c:pt>
              <c:pt idx="36">
                <c:v>01/26</c:v>
              </c:pt>
              <c:pt idx="37">
                <c:v>02/26</c:v>
              </c:pt>
              <c:pt idx="38">
                <c:v>03/26</c:v>
              </c:pt>
              <c:pt idx="39">
                <c:v>04/26</c:v>
              </c:pt>
              <c:pt idx="40">
                <c:v>05/26</c:v>
              </c:pt>
              <c:pt idx="41">
                <c:v>06/26</c:v>
              </c:pt>
              <c:pt idx="42">
                <c:v>07/26</c:v>
              </c:pt>
            </c:strLit>
          </c:cat>
          <c:val>
            <c:numLit>
              <c:formatCode>#,##0</c:formatCode>
              <c:ptCount val="43"/>
              <c:pt idx="0">
                <c:v>2797.3033043478263</c:v>
              </c:pt>
              <c:pt idx="1">
                <c:v>3355.548417391304</c:v>
              </c:pt>
              <c:pt idx="2">
                <c:v>3300.145450434782</c:v>
              </c:pt>
              <c:pt idx="3">
                <c:v>3780.9808059130437</c:v>
              </c:pt>
              <c:pt idx="4">
                <c:v>3646.578776243478</c:v>
              </c:pt>
              <c:pt idx="5">
                <c:v>3502.0797906678263</c:v>
              </c:pt>
              <c:pt idx="6">
                <c:v>4349.767283414609</c:v>
              </c:pt>
              <c:pt idx="7">
                <c:v>4290.536032689287</c:v>
              </c:pt>
              <c:pt idx="8">
                <c:v>3931.3167337037107</c:v>
              </c:pt>
              <c:pt idx="9">
                <c:v>4706.737760326892</c:v>
              </c:pt>
              <c:pt idx="10">
                <c:v>3759.9108195109507</c:v>
              </c:pt>
              <c:pt idx="11">
                <c:v>5081.130038472834</c:v>
              </c:pt>
              <c:pt idx="12">
                <c:v>5498.401699499457</c:v>
              </c:pt>
              <c:pt idx="13">
                <c:v>8115.266778645598</c:v>
              </c:pt>
              <c:pt idx="14">
                <c:v>6120.571895255865</c:v>
              </c:pt>
              <c:pt idx="15">
                <c:v>6131.25945039515</c:v>
              </c:pt>
              <c:pt idx="16">
                <c:v>5245.55116243082</c:v>
              </c:pt>
              <c:pt idx="17">
                <c:v>5885.091290156126</c:v>
              </c:pt>
              <c:pt idx="18">
                <c:v>6154.318868146048</c:v>
              </c:pt>
              <c:pt idx="19">
                <c:v>6185.131191162432</c:v>
              </c:pt>
              <c:pt idx="20">
                <c:v>5663.4920756379815</c:v>
              </c:pt>
              <c:pt idx="21">
                <c:v>5816.897555389885</c:v>
              </c:pt>
              <c:pt idx="22">
                <c:v>5163.3862772781185</c:v>
              </c:pt>
              <c:pt idx="23">
                <c:v>5364.547845119117</c:v>
              </c:pt>
              <c:pt idx="24">
                <c:v>4015.206784511912</c:v>
              </c:pt>
              <c:pt idx="25">
                <c:v>3771.054939320756</c:v>
              </c:pt>
              <c:pt idx="26">
                <c:v>4717.5988852364235</c:v>
              </c:pt>
              <c:pt idx="27">
                <c:v>5114.996062436686</c:v>
              </c:pt>
              <c:pt idx="28">
                <c:v>5954.956301895842</c:v>
              </c:pt>
              <c:pt idx="29">
                <c:v>5461.399630189584</c:v>
              </c:pt>
              <c:pt idx="30">
                <c:v>6398.847789105915</c:v>
              </c:pt>
              <c:pt idx="31">
                <c:v>6595.311561519287</c:v>
              </c:pt>
              <c:pt idx="32">
                <c:v>4702.137069195407</c:v>
              </c:pt>
              <c:pt idx="33">
                <c:v>5538.445533006497</c:v>
              </c:pt>
              <c:pt idx="34">
                <c:v>5691.784901126736</c:v>
              </c:pt>
              <c:pt idx="35">
                <c:v>5530.858142286586</c:v>
              </c:pt>
              <c:pt idx="36">
                <c:v>4505.460075098224</c:v>
              </c:pt>
              <c:pt idx="37">
                <c:v>4384.640094466345</c:v>
              </c:pt>
              <c:pt idx="38">
                <c:v>4940.746096403156</c:v>
              </c:pt>
              <c:pt idx="39">
                <c:v>5800.950435727273</c:v>
              </c:pt>
              <c:pt idx="40">
                <c:v>5066.485478355336</c:v>
              </c:pt>
              <c:pt idx="41">
                <c:v>4724.59637392249</c:v>
              </c:pt>
              <c:pt idx="42">
                <c:v>5129.059637392248</c:v>
              </c:pt>
            </c:numLit>
          </c:val>
          <c:smooth val="0"/>
        </c:ser>
        <c:dLbls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Sales month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EB8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44054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9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RDR sales</a:t>
                </a:r>
              </a:p>
            </c:rich>
          </c:tx>
          <c:overlay val="0"/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AEB8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44054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9525">
          <a:solidFill>
            <a:srgbClr val="C9D1DA"/>
          </a:solidFill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98C49BA-54E5-1102-6689-D72767200B0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33400" y="266700"/>
            <a:ext cx="6667500" cy="495300"/>
          </a:xfr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E2841"/>
                </a:solidFill>
                <a:latin typeface="Genesis"/>
                <a:ea typeface="Genesis"/>
                <a:cs typeface="Genesis"/>
              </a:defRPr>
            </a:pPr>
            <a:r>
              <a:rPr sz="3150" b="1">
                <a:solidFill>
                  <a:srgbClr val="0E2841"/>
                </a:solidFill>
                <a:latin typeface="Genesis"/>
                <a:ea typeface="Genesis"/>
                <a:cs typeface="Genesis"/>
              </a:rPr>
              <a:t>T1 visits and RDR sales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D4A28CF-D1EE-7B86-0D50-1A8B566AA5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52450" y="800100"/>
            <a:ext cx="8001000" cy="238125"/>
          </a:xfrm>
        </p:spPr>
        <p:txBody>
          <a:bodyPr xmlns:a="http://schemas.openxmlformats.org/drawingml/2006/main" wrap="none" lIns="0" tIns="0" rIns="0" bIns="0" anchor="ctr">
            <a:normAutofit fontScale="63544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  <a:latin typeface="Genesis"/>
                <a:ea typeface="Genesis"/>
                <a:cs typeface="Genesis"/>
              </a:defRPr>
            </a:pPr>
            <a:r>
              <a:rPr sz="1275">
                <a:solidFill>
                  <a:srgbClr val="52606D"/>
                </a:solidFill>
                <a:latin typeface="Genesis"/>
                <a:ea typeface="Genesis"/>
                <a:cs typeface="Genesis"/>
              </a:rPr>
              <a:t>National Total · Jan 2023–Jul 2026 · Lag 0 · Adstock decay 0.10</a:t>
            </a:r>
          </a:p>
        </p:txBody>
      </p:sp>
      <p:sp>
        <p:nvSpPr>
          <p:cNvPr id="4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8BFBB276-DDDB-416C-BAEB-F4BFF5D2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BE3"/>
            </a:solidFill>
            <a:prstDash val="solid"/>
          </a:ln>
        </p:spPr>
      </p:sp>
      <p:sp>
        <p:nvSpPr>
          <p:cNvPr id="5" name="scatter-r-label">
            <a:extLst xmlns:a="http://schemas.openxmlformats.org/drawingml/2006/main">
              <a:ext uri="{FF2B5EF4-FFF2-40B4-BE49-F238E27FC236}">
                <a16:creationId xmlns:a16="http://schemas.microsoft.com/office/drawing/2014/main" id="{3504D328-C653-4C05-9512-3499E8D2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1925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E17B2D"/>
                </a:solidFill>
                <a:latin typeface="Genesis"/>
                <a:ea typeface="Genesis"/>
                <a:cs typeface="Genesis"/>
              </a:defRPr>
            </a:pPr>
            <a:r>
              <a:rPr sz="1125" b="1">
                <a:solidFill>
                  <a:srgbClr val="E17B2D"/>
                </a:solidFill>
                <a:latin typeface="Genesis"/>
                <a:ea typeface="Genesis"/>
                <a:cs typeface="Genesis"/>
              </a:rPr>
              <a:t>r = 0.335</a:t>
            </a:r>
          </a:p>
        </p:txBody>
      </p:sp>
      <p:sp>
        <p:nvSpPr>
          <p:cNvPr id="6" name="scatter-year-r">
            <a:extLst xmlns:a="http://schemas.openxmlformats.org/drawingml/2006/main">
              <a:ext uri="{FF2B5EF4-FFF2-40B4-BE49-F238E27FC236}">
                <a16:creationId xmlns:a16="http://schemas.microsoft.com/office/drawing/2014/main" id="{8601E1C3-2680-4557-B87C-E5AC696E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3867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06D"/>
                </a:solidFill>
                <a:latin typeface="Genesis"/>
                <a:ea typeface="Genesis"/>
                <a:cs typeface="Genesis"/>
              </a:defRPr>
            </a:pPr>
            <a:r>
              <a:rPr sz="900">
                <a:solidFill>
                  <a:srgbClr val="52606D"/>
                </a:solidFill>
                <a:latin typeface="Genesis"/>
                <a:ea typeface="Genesis"/>
                <a:cs typeface="Genesis"/>
              </a:rPr>
              <a:t>2023: 0.772   ·   2024: -0.413   ·   2025: 0.628   ·   2026: 0.153</a:t>
            </a:r>
          </a:p>
        </p:txBody>
      </p:sp>
      <p:sp>
        <p:nvSpPr>
          <p:cNvPr id="7" name="scatter-year-r-heading">
            <a:extLst xmlns:a="http://schemas.openxmlformats.org/drawingml/2006/main">
              <a:ext uri="{FF2B5EF4-FFF2-40B4-BE49-F238E27FC236}">
                <a16:creationId xmlns:a16="http://schemas.microsoft.com/office/drawing/2014/main" id="{EE01C73D-A966-4564-96F1-3C1062B2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E2841"/>
                </a:solidFill>
                <a:latin typeface="Genesis"/>
                <a:ea typeface="Genesis"/>
                <a:cs typeface="Genesis"/>
              </a:defRPr>
            </a:pPr>
            <a:r>
              <a:rPr sz="900" b="1">
                <a:solidFill>
                  <a:srgbClr val="0E2841"/>
                </a:solidFill>
                <a:latin typeface="Genesis"/>
                <a:ea typeface="Genesis"/>
                <a:cs typeface="Genesis"/>
              </a:rPr>
              <a:t>r by year</a:t>
            </a:r>
          </a:p>
        </p:txBody>
      </p:sp>
      <p:sp>
        <p:nvSpPr>
          <p:cNvPr id="8" name="line-heading">
            <a:extLst xmlns:a="http://schemas.openxmlformats.org/drawingml/2006/main">
              <a:ext uri="{FF2B5EF4-FFF2-40B4-BE49-F238E27FC236}">
                <a16:creationId xmlns:a16="http://schemas.microsoft.com/office/drawing/2014/main" id="{25A04FEE-606D-49F8-9FEF-FBAD1D35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E2841"/>
                </a:solidFill>
                <a:latin typeface="Genesis"/>
                <a:ea typeface="Genesis"/>
                <a:cs typeface="Genesis"/>
              </a:defRPr>
            </a:pPr>
            <a:r>
              <a:rPr sz="1275" b="1">
                <a:solidFill>
                  <a:srgbClr val="0E2841"/>
                </a:solidFill>
                <a:latin typeface="Genesis"/>
                <a:ea typeface="Genesis"/>
                <a:cs typeface="Genesis"/>
              </a:rPr>
              <a:t>Monthly visits and sales</a:t>
            </a:r>
          </a:p>
        </p:txBody>
      </p:sp>
      <p:sp>
        <p:nvSpPr>
          <p:cNvPr id="9" name="line-note">
            <a:extLst xmlns:a="http://schemas.openxmlformats.org/drawingml/2006/main">
              <a:ext uri="{FF2B5EF4-FFF2-40B4-BE49-F238E27FC236}">
                <a16:creationId xmlns:a16="http://schemas.microsoft.com/office/drawing/2014/main" id="{9ADA5358-7FBE-48F1-9355-FC6258D4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2877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06D"/>
                </a:solidFill>
                <a:latin typeface="Genesis"/>
                <a:ea typeface="Genesis"/>
                <a:cs typeface="Genesis"/>
              </a:defRPr>
            </a:pPr>
            <a:r>
              <a:rPr sz="900">
                <a:solidFill>
                  <a:srgbClr val="52606D"/>
                </a:solidFill>
                <a:latin typeface="Genesis"/>
                <a:ea typeface="Genesis"/>
                <a:cs typeface="Genesis"/>
              </a:rPr>
              <a:t>RDR sales (left axis) · T1 visits (right axis)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533400" y="1885950"/>
          <a:ext xmlns:a="http://schemas.openxmlformats.org/drawingml/2006/main" cx="5191125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bc89e09cbdd4c28"/>
          </a:graphicData>
        </a:graphic>
      </p:graphicFrame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6191250" y="1885950"/>
          <a:ext xmlns:a="http://schemas.openxmlformats.org/drawingml/2006/main" cx="5429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90ede5868a423e"/>
          </a:graphicData>
        </a:graphic>
      </p:graphicFrame>
      <p:sp>
        <p:nvSpPr>
          <p:cNvPr id="12" name="t1-axis-0">
            <a:extLst xmlns:a="http://schemas.openxmlformats.org/drawingml/2006/main">
              <a:ext uri="{FF2B5EF4-FFF2-40B4-BE49-F238E27FC236}">
                <a16:creationId xmlns:a16="http://schemas.microsoft.com/office/drawing/2014/main" id="{E9A58EFB-F2A0-4815-9EE9-66A4D522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1054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52606D"/>
                </a:solidFill>
                <a:latin typeface="Genesis"/>
                <a:ea typeface="Genesis"/>
                <a:cs typeface="Genesis"/>
              </a:defRPr>
            </a:pPr>
            <a:r>
              <a:rPr sz="750">
                <a:solidFill>
                  <a:srgbClr val="52606D"/>
                </a:solidFill>
                <a:latin typeface="Genesis"/>
                <a:ea typeface="Genesis"/>
                <a:cs typeface="Genesis"/>
              </a:rPr>
              <a:t>0</a:t>
            </a:r>
          </a:p>
        </p:txBody>
      </p:sp>
      <p:sp>
        <p:nvSpPr>
          <p:cNvPr id="13" name="t1-axis-1000000">
            <a:extLst xmlns:a="http://schemas.openxmlformats.org/drawingml/2006/main">
              <a:ext uri="{FF2B5EF4-FFF2-40B4-BE49-F238E27FC236}">
                <a16:creationId xmlns:a16="http://schemas.microsoft.com/office/drawing/2014/main" id="{B2C5671D-9F3B-46E2-BE51-E4D61C5F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4585252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52606D"/>
                </a:solidFill>
                <a:latin typeface="Genesis"/>
                <a:ea typeface="Genesis"/>
                <a:cs typeface="Genesis"/>
              </a:defRPr>
            </a:pPr>
            <a:r>
              <a:rPr sz="750">
                <a:solidFill>
                  <a:srgbClr val="52606D"/>
                </a:solidFill>
                <a:latin typeface="Genesis"/>
                <a:ea typeface="Genesis"/>
                <a:cs typeface="Genesis"/>
              </a:rPr>
              <a:t>1M</a:t>
            </a:r>
          </a:p>
        </p:txBody>
      </p:sp>
      <p:sp>
        <p:nvSpPr>
          <p:cNvPr id="14" name="t1-axis-2000000">
            <a:extLst xmlns:a="http://schemas.openxmlformats.org/drawingml/2006/main">
              <a:ext uri="{FF2B5EF4-FFF2-40B4-BE49-F238E27FC236}">
                <a16:creationId xmlns:a16="http://schemas.microsoft.com/office/drawing/2014/main" id="{F14713CC-21A3-41BC-BE7C-CAE02891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4065104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52606D"/>
                </a:solidFill>
                <a:latin typeface="Genesis"/>
                <a:ea typeface="Genesis"/>
                <a:cs typeface="Genesis"/>
              </a:defRPr>
            </a:pPr>
            <a:r>
              <a:rPr sz="750">
                <a:solidFill>
                  <a:srgbClr val="52606D"/>
                </a:solidFill>
                <a:latin typeface="Genesis"/>
                <a:ea typeface="Genesis"/>
                <a:cs typeface="Genesis"/>
              </a:rPr>
              <a:t>2M</a:t>
            </a:r>
          </a:p>
        </p:txBody>
      </p:sp>
      <p:sp>
        <p:nvSpPr>
          <p:cNvPr id="15" name="t1-axis-3000000">
            <a:extLst xmlns:a="http://schemas.openxmlformats.org/drawingml/2006/main">
              <a:ext uri="{FF2B5EF4-FFF2-40B4-BE49-F238E27FC236}">
                <a16:creationId xmlns:a16="http://schemas.microsoft.com/office/drawing/2014/main" id="{BFF27E40-438C-44E4-8563-1AD26FDD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3544957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52606D"/>
                </a:solidFill>
                <a:latin typeface="Genesis"/>
                <a:ea typeface="Genesis"/>
                <a:cs typeface="Genesis"/>
              </a:defRPr>
            </a:pPr>
            <a:r>
              <a:rPr sz="750">
                <a:solidFill>
                  <a:srgbClr val="52606D"/>
                </a:solidFill>
                <a:latin typeface="Genesis"/>
                <a:ea typeface="Genesis"/>
                <a:cs typeface="Genesis"/>
              </a:rPr>
              <a:t>3M</a:t>
            </a:r>
          </a:p>
        </p:txBody>
      </p:sp>
      <p:sp>
        <p:nvSpPr>
          <p:cNvPr id="16" name="t1-axis-4000000">
            <a:extLst xmlns:a="http://schemas.openxmlformats.org/drawingml/2006/main">
              <a:ext uri="{FF2B5EF4-FFF2-40B4-BE49-F238E27FC236}">
                <a16:creationId xmlns:a16="http://schemas.microsoft.com/office/drawing/2014/main" id="{C3C66B67-669F-4FBC-AE9B-7648A9D2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3024809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52606D"/>
                </a:solidFill>
                <a:latin typeface="Genesis"/>
                <a:ea typeface="Genesis"/>
                <a:cs typeface="Genesis"/>
              </a:defRPr>
            </a:pPr>
            <a:r>
              <a:rPr sz="750">
                <a:solidFill>
                  <a:srgbClr val="52606D"/>
                </a:solidFill>
                <a:latin typeface="Genesis"/>
                <a:ea typeface="Genesis"/>
                <a:cs typeface="Genesis"/>
              </a:rPr>
              <a:t>4M</a:t>
            </a:r>
          </a:p>
        </p:txBody>
      </p:sp>
      <p:sp>
        <p:nvSpPr>
          <p:cNvPr id="17" name="t1-axis-5000000">
            <a:extLst xmlns:a="http://schemas.openxmlformats.org/drawingml/2006/main">
              <a:ext uri="{FF2B5EF4-FFF2-40B4-BE49-F238E27FC236}">
                <a16:creationId xmlns:a16="http://schemas.microsoft.com/office/drawing/2014/main" id="{1653A7EF-A6E0-4E34-8FCC-727D192F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2504661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52606D"/>
                </a:solidFill>
                <a:latin typeface="Genesis"/>
                <a:ea typeface="Genesis"/>
                <a:cs typeface="Genesis"/>
              </a:defRPr>
            </a:pPr>
            <a:r>
              <a:rPr sz="750">
                <a:solidFill>
                  <a:srgbClr val="52606D"/>
                </a:solidFill>
                <a:latin typeface="Genesis"/>
                <a:ea typeface="Genesis"/>
                <a:cs typeface="Genesis"/>
              </a:rPr>
              <a:t>5M</a:t>
            </a:r>
          </a:p>
        </p:txBody>
      </p:sp>
      <p:sp>
        <p:nvSpPr>
          <p:cNvPr id="18" name="t1-axis-title">
            <a:extLst xmlns:a="http://schemas.openxmlformats.org/drawingml/2006/main">
              <a:ext uri="{FF2B5EF4-FFF2-40B4-BE49-F238E27FC236}">
                <a16:creationId xmlns:a16="http://schemas.microsoft.com/office/drawing/2014/main" id="{8940EB55-51EF-44AC-9471-74B6BAF3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782425" y="33813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344054"/>
                </a:solidFill>
                <a:latin typeface="Genesis"/>
                <a:ea typeface="Genesis"/>
                <a:cs typeface="Genesis"/>
              </a:defRPr>
            </a:pPr>
            <a:r>
              <a:rPr sz="825">
                <a:solidFill>
                  <a:srgbClr val="344054"/>
                </a:solidFill>
                <a:latin typeface="Genesis"/>
                <a:ea typeface="Genesis"/>
                <a:cs typeface="Genesis"/>
              </a:rPr>
              <a:t>T1 visits</a:t>
            </a:r>
          </a:p>
        </p:txBody>
      </p:sp>
      <p:sp>
        <p:nvSpPr>
          <p:cNvPr id="19" name="line-legend-sales">
            <a:extLst xmlns:a="http://schemas.openxmlformats.org/drawingml/2006/main">
              <a:ext uri="{FF2B5EF4-FFF2-40B4-BE49-F238E27FC236}">
                <a16:creationId xmlns:a16="http://schemas.microsoft.com/office/drawing/2014/main" id="{052E19FD-9357-452A-BB6E-96EE1071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388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677D2"/>
                </a:solidFill>
                <a:latin typeface="Genesis"/>
                <a:ea typeface="Genesis"/>
                <a:cs typeface="Genesis"/>
              </a:defRPr>
            </a:pPr>
            <a:r>
              <a:rPr sz="900">
                <a:solidFill>
                  <a:srgbClr val="1677D2"/>
                </a:solidFill>
                <a:latin typeface="Genesis"/>
                <a:ea typeface="Genesis"/>
                <a:cs typeface="Genesis"/>
              </a:rPr>
              <a:t>—  RDR sales</a:t>
            </a:r>
          </a:p>
        </p:txBody>
      </p:sp>
      <p:sp>
        <p:nvSpPr>
          <p:cNvPr id="20" name="line-legend-visits">
            <a:extLst xmlns:a="http://schemas.openxmlformats.org/drawingml/2006/main">
              <a:ext uri="{FF2B5EF4-FFF2-40B4-BE49-F238E27FC236}">
                <a16:creationId xmlns:a16="http://schemas.microsoft.com/office/drawing/2014/main" id="{74180021-38FA-4AB8-A3A3-D800E712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8388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A9D5B"/>
                </a:solidFill>
                <a:latin typeface="Genesis"/>
                <a:ea typeface="Genesis"/>
                <a:cs typeface="Genesis"/>
              </a:defRPr>
            </a:pPr>
            <a:r>
              <a:rPr sz="900">
                <a:solidFill>
                  <a:srgbClr val="2A9D5B"/>
                </a:solidFill>
                <a:latin typeface="Genesis"/>
                <a:ea typeface="Genesis"/>
                <a:cs typeface="Genesis"/>
              </a:rPr>
              <a:t>—  T1 visits</a:t>
            </a:r>
          </a:p>
        </p:txBody>
      </p:sp>
      <p:sp>
        <p:nvSpPr>
          <p:cNvPr id="21" name="source-note">
            <a:extLst xmlns:a="http://schemas.openxmlformats.org/drawingml/2006/main">
              <a:ext uri="{FF2B5EF4-FFF2-40B4-BE49-F238E27FC236}">
                <a16:creationId xmlns:a16="http://schemas.microsoft.com/office/drawing/2014/main" id="{643FB1E2-A682-4185-AC73-7E7C43FB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7085"/>
                </a:solidFill>
                <a:latin typeface="Genesis"/>
                <a:ea typeface="Genesis"/>
                <a:cs typeface="Genesis"/>
              </a:defRPr>
            </a:pPr>
            <a:r>
              <a:rPr sz="750">
                <a:solidFill>
                  <a:srgbClr val="667085"/>
                </a:solidFill>
                <a:latin typeface="Genesis"/>
                <a:ea typeface="Genesis"/>
                <a:cs typeface="Genesis"/>
              </a:rPr>
              <a:t>Source: gma_funnel_enriched Total row + governance RDR sales</a:t>
            </a:r>
          </a:p>
        </p:txBody>
      </p:sp>
    </p:spTree>
    <p:extLst>
      <p:ext uri="{BB962C8B-B14F-4D97-AF65-F5344CB8AC3E}">
        <p14:creationId xmlns:p14="http://schemas.microsoft.com/office/powerpoint/2010/main" val="55844388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2026-09-08T20:05:54.6870000Z</dcterms:created>
  <dcterms:modified xsi:type="dcterms:W3CDTF">2026-09-08T20:05:54.6870000Z</dcterms:modified>
</coreProperties>
</file>